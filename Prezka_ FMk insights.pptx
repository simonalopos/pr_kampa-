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7" r:id="rId9"/>
    <p:sldId id="269" r:id="rId10"/>
    <p:sldId id="270" r:id="rId11"/>
    <p:sldId id="271" r:id="rId12"/>
    <p:sldId id="272" r:id="rId13"/>
    <p:sldId id="27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62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2820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6.png"/><Relationship Id="rId5" Type="http://schemas.openxmlformats.org/officeDocument/2006/relationships/image" Target="../media/image7.pn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25148" y="2105978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EED7FF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SK"/>
          </a:p>
        </p:txBody>
      </p:sp>
      <p:sp>
        <p:nvSpPr>
          <p:cNvPr id="3" name="Text 1"/>
          <p:cNvSpPr/>
          <p:nvPr/>
        </p:nvSpPr>
        <p:spPr>
          <a:xfrm>
            <a:off x="432664" y="1339845"/>
            <a:ext cx="8278672" cy="6583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456" b="1" kern="0" spc="7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 Part of the Conversation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0" y="2144517"/>
            <a:ext cx="914400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728" dirty="0">
                <a:solidFill>
                  <a:srgbClr val="C56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Building FMK Insights Community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2687623" y="2722073"/>
            <a:ext cx="376875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Lopošová, Kopnická,Raceková, Palečková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4975" y="323497"/>
            <a:ext cx="3857842" cy="9509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707833" y="1625624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1266574" y="1730780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 Campaign Overview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4541083" y="1625624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5099303" y="1744496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Communication Strategy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707918" y="2316911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1267052" y="2435783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Campaign Objectives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 Campaign Overview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C56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5078" y="67884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podcast talkshow format</a:t>
            </a:r>
            <a:endParaRPr lang="en-US" sz="1440" dirty="0"/>
          </a:p>
        </p:txBody>
      </p:sp>
      <p:sp>
        <p:nvSpPr>
          <p:cNvPr id="6" name="Shape 1"/>
          <p:cNvSpPr/>
          <p:nvPr/>
        </p:nvSpPr>
        <p:spPr>
          <a:xfrm>
            <a:off x="3573332" y="2047055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C560FF"/>
          </a:solidFill>
          <a:ln/>
        </p:spPr>
        <p:txBody>
          <a:bodyPr/>
          <a:lstStyle/>
          <a:p>
            <a:endParaRPr lang="en-SK"/>
          </a:p>
        </p:txBody>
      </p:sp>
      <p:pic>
        <p:nvPicPr>
          <p:cNvPr id="7" name="Image 3" descr="https://oceandoc-ai.obs.ap-southeast-3.myhuaweicloud.com/ppt_list_page/_19052329831_LCg0aP1732514685662-0536160787312864.png?authorization=c2ltcGxlLWp3dCBhaz1zcGFya2Rlc2s4MDAwMDAwMDAwMDE7ZXhwPTMzMDkzMTQ2OTQ7YWxnbz1obWFjLXNoYTI1NjtzaWc9T3hwcDhvbUw1WGhtUVRNQ050c1pjQVc1cWxOTWQzT3FCQitYeVFiM1pxVT0=&amp;x_location=7YfmxI7B7uKO7jlRxIftd60XeLD=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6048" y="2149770"/>
            <a:ext cx="297847" cy="297847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3573332" y="3031288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6764FB"/>
          </a:solidFill>
          <a:ln/>
        </p:spPr>
        <p:txBody>
          <a:bodyPr/>
          <a:lstStyle/>
          <a:p>
            <a:endParaRPr lang="en-SK"/>
          </a:p>
        </p:txBody>
      </p:sp>
      <p:pic>
        <p:nvPicPr>
          <p:cNvPr id="9" name="Image 4" descr="https://oceandoc-ai.obs.ap-southeast-3.myhuaweicloud.com/ppt_list_page/_19052329831_uTDMEZ1732514694176-08056073287339853.png?authorization=c2ltcGxlLWp3dCBhaz1zcGFya2Rlc2s4MDAwMDAwMDAwMDE7ZXhwPTMzMDkzMTQ3MDE7YWxnbz1obWFjLXNoYTI1NjtzaWc9ekxLaW9idTh2eEdNdzVVV0xXSXNsYzJWUFNzaGNESml5ZzJnNUdKZHNKQT0=&amp;x_location=7YfmxI7B7uKO7jlRxIftd60XeLD=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7998" y="3125954"/>
            <a:ext cx="313947" cy="313947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3573332" y="4059393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C560FF"/>
          </a:solidFill>
          <a:ln/>
        </p:spPr>
        <p:txBody>
          <a:bodyPr/>
          <a:lstStyle/>
          <a:p>
            <a:endParaRPr lang="en-SK"/>
          </a:p>
        </p:txBody>
      </p:sp>
      <p:pic>
        <p:nvPicPr>
          <p:cNvPr id="11" name="Image 5" descr="https://oceandoc-ai.obs.ap-southeast-3.myhuaweicloud.com/ppt_list_page/_19052329831_y63oFi1732514699286-07869239987903869.png?authorization=c2ltcGxlLWp3dCBhaz1zcGFya2Rlc2s4MDAwMDAwMDAwMDE7ZXhwPTMzMDkzMTQ3MDY7YWxnbz1obWFjLXNoYTI1NjtzaWc9eXd1OXk4NisvcExnV3NOUmVIdHd4RzRKcnJCUkhYM3VxdStpUzJUTVI4RT0=&amp;x_location=7YfmxI7B7uKO7jlRxIftd60XeLD=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073" y="4166134"/>
            <a:ext cx="289797" cy="289797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3573332" y="1055972"/>
            <a:ext cx="503278" cy="503278"/>
          </a:xfrm>
          <a:custGeom>
            <a:avLst/>
            <a:gdLst/>
            <a:ahLst/>
            <a:cxnLst/>
            <a:rect l="l" t="t" r="r" b="b"/>
            <a:pathLst>
              <a:path w="503278" h="503278">
                <a:moveTo>
                  <a:pt x="251639" y="0"/>
                </a:moveTo>
                <a:moveTo>
                  <a:pt x="251639" y="0"/>
                </a:moveTo>
                <a:cubicBezTo>
                  <a:pt x="390522" y="0"/>
                  <a:pt x="503278" y="112756"/>
                  <a:pt x="503278" y="251639"/>
                </a:cubicBezTo>
                <a:cubicBezTo>
                  <a:pt x="503278" y="390522"/>
                  <a:pt x="390522" y="503278"/>
                  <a:pt x="251639" y="503278"/>
                </a:cubicBezTo>
                <a:cubicBezTo>
                  <a:pt x="112756" y="503278"/>
                  <a:pt x="0" y="390522"/>
                  <a:pt x="0" y="251639"/>
                </a:cubicBezTo>
                <a:cubicBezTo>
                  <a:pt x="0" y="112756"/>
                  <a:pt x="112756" y="0"/>
                  <a:pt x="251639" y="0"/>
                </a:cubicBezTo>
                <a:close/>
              </a:path>
            </a:pathLst>
          </a:custGeom>
          <a:solidFill>
            <a:srgbClr val="6764FB"/>
          </a:solidFill>
          <a:ln/>
        </p:spPr>
        <p:txBody>
          <a:bodyPr/>
          <a:lstStyle/>
          <a:p>
            <a:endParaRPr lang="en-SK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3401" y="1166041"/>
            <a:ext cx="283140" cy="283140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037" y="363251"/>
            <a:ext cx="3436864" cy="4582485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4121080" y="83351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audience experience</a:t>
            </a:r>
            <a:endParaRPr lang="en-US" sz="1440" dirty="0"/>
          </a:p>
        </p:txBody>
      </p:sp>
      <p:sp>
        <p:nvSpPr>
          <p:cNvPr id="16" name="Text 6"/>
          <p:cNvSpPr/>
          <p:nvPr/>
        </p:nvSpPr>
        <p:spPr>
          <a:xfrm>
            <a:off x="4121080" y="1064460"/>
            <a:ext cx="4753729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recording with guests, students and influencers creates dynamic engagement opportunities.</a:t>
            </a:r>
            <a:endParaRPr lang="en-US" sz="1440" dirty="0"/>
          </a:p>
        </p:txBody>
      </p:sp>
      <p:sp>
        <p:nvSpPr>
          <p:cNvPr id="17" name="Text 7"/>
          <p:cNvSpPr/>
          <p:nvPr/>
        </p:nvSpPr>
        <p:spPr>
          <a:xfrm>
            <a:off x="4121080" y="185394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Behind-the-scenes access</a:t>
            </a:r>
            <a:endParaRPr lang="en-US" sz="1440" dirty="0"/>
          </a:p>
        </p:txBody>
      </p:sp>
      <p:sp>
        <p:nvSpPr>
          <p:cNvPr id="18" name="Text 8"/>
          <p:cNvSpPr/>
          <p:nvPr/>
        </p:nvSpPr>
        <p:spPr>
          <a:xfrm>
            <a:off x="4121080" y="2085746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Exclusive backstage experiences allow winners to participate in podcast creation process.</a:t>
            </a:r>
            <a:endParaRPr lang="en-US" sz="1440" dirty="0"/>
          </a:p>
        </p:txBody>
      </p:sp>
      <p:sp>
        <p:nvSpPr>
          <p:cNvPr id="19" name="Text 9"/>
          <p:cNvSpPr/>
          <p:nvPr/>
        </p:nvSpPr>
        <p:spPr>
          <a:xfrm>
            <a:off x="4121080" y="287437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Community building</a:t>
            </a:r>
            <a:endParaRPr lang="en-US" sz="1440" dirty="0"/>
          </a:p>
        </p:txBody>
      </p:sp>
      <p:sp>
        <p:nvSpPr>
          <p:cNvPr id="20" name="Text 10"/>
          <p:cNvSpPr/>
          <p:nvPr/>
        </p:nvSpPr>
        <p:spPr>
          <a:xfrm>
            <a:off x="4121080" y="3107131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Format strengthens FMK community while showcasing authentic student-driven content.</a:t>
            </a:r>
            <a:endParaRPr lang="en-US" sz="1440" dirty="0"/>
          </a:p>
        </p:txBody>
      </p:sp>
      <p:sp>
        <p:nvSpPr>
          <p:cNvPr id="21" name="Text 11"/>
          <p:cNvSpPr/>
          <p:nvPr/>
        </p:nvSpPr>
        <p:spPr>
          <a:xfrm>
            <a:off x="4121080" y="3894800"/>
            <a:ext cx="47653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question opportunity</a:t>
            </a:r>
            <a:endParaRPr lang="en-US" sz="1440" dirty="0"/>
          </a:p>
        </p:txBody>
      </p:sp>
      <p:sp>
        <p:nvSpPr>
          <p:cNvPr id="22" name="Text 12"/>
          <p:cNvSpPr/>
          <p:nvPr/>
        </p:nvSpPr>
        <p:spPr>
          <a:xfrm>
            <a:off x="4121080" y="4128516"/>
            <a:ext cx="475369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Attendees can participate directly by asking questions during the recording session.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57607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Communication Strategy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C56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5078" y="67884"/>
            <a:ext cx="8005161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Online channels prioritizing Instagram</a:t>
            </a:r>
            <a:endParaRPr lang="en-US" sz="144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163" y="2227705"/>
            <a:ext cx="7469675" cy="114894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324665" y="319376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764FB"/>
          </a:solidFill>
          <a:ln w="19050">
            <a:solidFill>
              <a:srgbClr val="463E73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8" name="Text 2"/>
          <p:cNvSpPr/>
          <p:nvPr/>
        </p:nvSpPr>
        <p:spPr>
          <a:xfrm>
            <a:off x="1273141" y="3394978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9" name="Shape 3"/>
          <p:cNvSpPr/>
          <p:nvPr/>
        </p:nvSpPr>
        <p:spPr>
          <a:xfrm>
            <a:off x="3370620" y="295600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764FB"/>
          </a:solidFill>
          <a:ln w="19050">
            <a:solidFill>
              <a:srgbClr val="463E73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0" name="Text 4"/>
          <p:cNvSpPr/>
          <p:nvPr/>
        </p:nvSpPr>
        <p:spPr>
          <a:xfrm>
            <a:off x="3319096" y="3157213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1" name="Shape 5"/>
          <p:cNvSpPr/>
          <p:nvPr/>
        </p:nvSpPr>
        <p:spPr>
          <a:xfrm>
            <a:off x="5518209" y="2245993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764FB"/>
          </a:solidFill>
          <a:ln w="19050">
            <a:solidFill>
              <a:srgbClr val="463E73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2" name="Text 6"/>
          <p:cNvSpPr/>
          <p:nvPr/>
        </p:nvSpPr>
        <p:spPr>
          <a:xfrm>
            <a:off x="5466685" y="2447205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3" name="Shape 7"/>
          <p:cNvSpPr/>
          <p:nvPr/>
        </p:nvSpPr>
        <p:spPr>
          <a:xfrm>
            <a:off x="7689252" y="238903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91440" y="0"/>
                </a:moveTo>
                <a:moveTo>
                  <a:pt x="91440" y="0"/>
                </a:moveTo>
                <a:cubicBezTo>
                  <a:pt x="141907" y="0"/>
                  <a:pt x="182880" y="40973"/>
                  <a:pt x="182880" y="91440"/>
                </a:cubicBezTo>
                <a:cubicBezTo>
                  <a:pt x="182880" y="141907"/>
                  <a:pt x="141907" y="182880"/>
                  <a:pt x="91440" y="182880"/>
                </a:cubicBezTo>
                <a:cubicBezTo>
                  <a:pt x="40973" y="182880"/>
                  <a:pt x="0" y="141907"/>
                  <a:pt x="0" y="91440"/>
                </a:cubicBezTo>
                <a:cubicBezTo>
                  <a:pt x="0" y="40973"/>
                  <a:pt x="40973" y="0"/>
                  <a:pt x="91440" y="0"/>
                </a:cubicBezTo>
                <a:close/>
              </a:path>
            </a:pathLst>
          </a:custGeom>
          <a:solidFill>
            <a:srgbClr val="6764FB"/>
          </a:solidFill>
          <a:ln w="19050">
            <a:solidFill>
              <a:srgbClr val="463E73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4" name="Text 8"/>
          <p:cNvSpPr/>
          <p:nvPr/>
        </p:nvSpPr>
        <p:spPr>
          <a:xfrm>
            <a:off x="7637728" y="2590242"/>
            <a:ext cx="2892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273820" y="1114401"/>
            <a:ext cx="199196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Instagram as primary platform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2466078" y="815873"/>
            <a:ext cx="19919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TikTok for viral content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2466078" y="1368169"/>
            <a:ext cx="199196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Sharing viral clips and behind-the-scenes footage to attract Gen Z listeners.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4650244" y="2899331"/>
            <a:ext cx="199196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Spotify &amp; YouTube streaming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4650244" y="3451627"/>
            <a:ext cx="199196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Offering livestreams and bonus episodes to expand podcast accessibility.</a:t>
            </a:r>
            <a:endParaRPr lang="en-US" sz="1440" dirty="0"/>
          </a:p>
        </p:txBody>
      </p:sp>
      <p:sp>
        <p:nvSpPr>
          <p:cNvPr id="20" name="Text 14"/>
          <p:cNvSpPr/>
          <p:nvPr/>
        </p:nvSpPr>
        <p:spPr>
          <a:xfrm>
            <a:off x="6912727" y="3047442"/>
            <a:ext cx="19919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FMK digital presence</a:t>
            </a:r>
            <a:endParaRPr lang="en-US" sz="1440" dirty="0"/>
          </a:p>
        </p:txBody>
      </p:sp>
      <p:sp>
        <p:nvSpPr>
          <p:cNvPr id="21" name="Text 15"/>
          <p:cNvSpPr/>
          <p:nvPr/>
        </p:nvSpPr>
        <p:spPr>
          <a:xfrm>
            <a:off x="6912727" y="3599738"/>
            <a:ext cx="199196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Utilizing SharePoint, website and optional newsletter for institutional reach.</a:t>
            </a:r>
            <a:endParaRPr lang="en-US" sz="1440" dirty="0"/>
          </a:p>
        </p:txBody>
      </p:sp>
      <p:sp>
        <p:nvSpPr>
          <p:cNvPr id="22" name="Text 16"/>
          <p:cNvSpPr/>
          <p:nvPr/>
        </p:nvSpPr>
        <p:spPr>
          <a:xfrm>
            <a:off x="273820" y="1666698"/>
            <a:ext cx="199196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Featuring reels, teasers, giveaways and event promotions to engage young audience.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5078" y="67884"/>
            <a:ext cx="8005161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campus promotion</a:t>
            </a:r>
            <a:endParaRPr lang="en-US" sz="144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416" y="1089117"/>
            <a:ext cx="2432572" cy="3488093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329134" y="3866753"/>
            <a:ext cx="2356568" cy="567445"/>
          </a:xfrm>
          <a:custGeom>
            <a:avLst/>
            <a:gdLst/>
            <a:ahLst/>
            <a:cxnLst/>
            <a:rect l="l" t="t" r="r" b="b"/>
            <a:pathLst>
              <a:path w="2356568" h="567445">
                <a:moveTo>
                  <a:pt x="0" y="0"/>
                </a:moveTo>
                <a:moveTo>
                  <a:pt x="0" y="0"/>
                </a:moveTo>
                <a:lnTo>
                  <a:pt x="2356568" y="0"/>
                </a:lnTo>
                <a:lnTo>
                  <a:pt x="2356568" y="567445"/>
                </a:lnTo>
                <a:lnTo>
                  <a:pt x="0" y="567445"/>
                </a:lnTo>
                <a:close/>
              </a:path>
            </a:pathLst>
          </a:custGeom>
          <a:solidFill>
            <a:srgbClr val="6764FB"/>
          </a:solidFill>
          <a:ln/>
        </p:spPr>
        <p:txBody>
          <a:bodyPr/>
          <a:lstStyle/>
          <a:p>
            <a:endParaRPr lang="en-SK"/>
          </a:p>
        </p:txBody>
      </p:sp>
      <p:sp>
        <p:nvSpPr>
          <p:cNvPr id="8" name="Shape 2"/>
          <p:cNvSpPr/>
          <p:nvPr/>
        </p:nvSpPr>
        <p:spPr>
          <a:xfrm>
            <a:off x="790042" y="3687991"/>
            <a:ext cx="1669247" cy="0"/>
          </a:xfrm>
          <a:custGeom>
            <a:avLst/>
            <a:gdLst/>
            <a:ahLst/>
            <a:cxnLst/>
            <a:rect l="l" t="t" r="r" b="b"/>
            <a:pathLst>
              <a:path w="1669247">
                <a:moveTo>
                  <a:pt x="0" y="0"/>
                </a:moveTo>
                <a:moveTo>
                  <a:pt x="0" y="0"/>
                </a:moveTo>
                <a:lnTo>
                  <a:pt x="1669247" y="0"/>
                </a:lnTo>
              </a:path>
            </a:pathLst>
          </a:custGeom>
          <a:noFill/>
          <a:ln w="19420">
            <a:solidFill>
              <a:srgbClr val="FFFFFF">
                <a:alpha val="32157"/>
              </a:srgbClr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SK"/>
          </a:p>
        </p:txBody>
      </p:sp>
      <p:sp>
        <p:nvSpPr>
          <p:cNvPr id="9" name="Text 3"/>
          <p:cNvSpPr/>
          <p:nvPr/>
        </p:nvSpPr>
        <p:spPr>
          <a:xfrm>
            <a:off x="2157579" y="1050677"/>
            <a:ext cx="702086" cy="8686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600" b="1" i="1" dirty="0">
                <a:solidFill>
                  <a:srgbClr val="6764FB">
                    <a:alpha val="5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7516" y="1089117"/>
            <a:ext cx="2432572" cy="3488093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3282233" y="3866753"/>
            <a:ext cx="2356568" cy="567445"/>
          </a:xfrm>
          <a:custGeom>
            <a:avLst/>
            <a:gdLst/>
            <a:ahLst/>
            <a:cxnLst/>
            <a:rect l="l" t="t" r="r" b="b"/>
            <a:pathLst>
              <a:path w="2356568" h="567445">
                <a:moveTo>
                  <a:pt x="0" y="0"/>
                </a:moveTo>
                <a:moveTo>
                  <a:pt x="0" y="0"/>
                </a:moveTo>
                <a:lnTo>
                  <a:pt x="2356568" y="0"/>
                </a:lnTo>
                <a:lnTo>
                  <a:pt x="2356568" y="567445"/>
                </a:lnTo>
                <a:lnTo>
                  <a:pt x="0" y="567445"/>
                </a:lnTo>
                <a:close/>
              </a:path>
            </a:pathLst>
          </a:custGeom>
          <a:solidFill>
            <a:srgbClr val="6764FB"/>
          </a:solidFill>
          <a:ln/>
        </p:spPr>
        <p:txBody>
          <a:bodyPr/>
          <a:lstStyle/>
          <a:p>
            <a:endParaRPr lang="en-SK"/>
          </a:p>
        </p:txBody>
      </p:sp>
      <p:sp>
        <p:nvSpPr>
          <p:cNvPr id="12" name="Shape 5"/>
          <p:cNvSpPr/>
          <p:nvPr/>
        </p:nvSpPr>
        <p:spPr>
          <a:xfrm>
            <a:off x="3743142" y="3687991"/>
            <a:ext cx="1669247" cy="0"/>
          </a:xfrm>
          <a:custGeom>
            <a:avLst/>
            <a:gdLst/>
            <a:ahLst/>
            <a:cxnLst/>
            <a:rect l="l" t="t" r="r" b="b"/>
            <a:pathLst>
              <a:path w="1669247">
                <a:moveTo>
                  <a:pt x="0" y="0"/>
                </a:moveTo>
                <a:moveTo>
                  <a:pt x="0" y="0"/>
                </a:moveTo>
                <a:lnTo>
                  <a:pt x="1669247" y="0"/>
                </a:lnTo>
              </a:path>
            </a:pathLst>
          </a:custGeom>
          <a:noFill/>
          <a:ln w="19420">
            <a:solidFill>
              <a:srgbClr val="FFFFFF">
                <a:alpha val="32157"/>
              </a:srgbClr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SK"/>
          </a:p>
        </p:txBody>
      </p:sp>
      <p:sp>
        <p:nvSpPr>
          <p:cNvPr id="13" name="Text 6"/>
          <p:cNvSpPr/>
          <p:nvPr/>
        </p:nvSpPr>
        <p:spPr>
          <a:xfrm>
            <a:off x="5110678" y="1050677"/>
            <a:ext cx="702086" cy="8686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600" b="1" i="1" dirty="0">
                <a:solidFill>
                  <a:srgbClr val="6764FB">
                    <a:alpha val="5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295" y="1089117"/>
            <a:ext cx="2432572" cy="3488093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6207012" y="3866753"/>
            <a:ext cx="2356568" cy="567445"/>
          </a:xfrm>
          <a:custGeom>
            <a:avLst/>
            <a:gdLst/>
            <a:ahLst/>
            <a:cxnLst/>
            <a:rect l="l" t="t" r="r" b="b"/>
            <a:pathLst>
              <a:path w="2356568" h="567445">
                <a:moveTo>
                  <a:pt x="0" y="0"/>
                </a:moveTo>
                <a:moveTo>
                  <a:pt x="0" y="0"/>
                </a:moveTo>
                <a:lnTo>
                  <a:pt x="2356568" y="0"/>
                </a:lnTo>
                <a:lnTo>
                  <a:pt x="2356568" y="567445"/>
                </a:lnTo>
                <a:lnTo>
                  <a:pt x="0" y="567445"/>
                </a:lnTo>
                <a:close/>
              </a:path>
            </a:pathLst>
          </a:custGeom>
          <a:solidFill>
            <a:srgbClr val="6764FB"/>
          </a:solidFill>
          <a:ln/>
        </p:spPr>
        <p:txBody>
          <a:bodyPr/>
          <a:lstStyle/>
          <a:p>
            <a:endParaRPr lang="en-SK"/>
          </a:p>
        </p:txBody>
      </p:sp>
      <p:sp>
        <p:nvSpPr>
          <p:cNvPr id="16" name="Shape 8"/>
          <p:cNvSpPr/>
          <p:nvPr/>
        </p:nvSpPr>
        <p:spPr>
          <a:xfrm>
            <a:off x="6667921" y="3687991"/>
            <a:ext cx="1669247" cy="0"/>
          </a:xfrm>
          <a:custGeom>
            <a:avLst/>
            <a:gdLst/>
            <a:ahLst/>
            <a:cxnLst/>
            <a:rect l="l" t="t" r="r" b="b"/>
            <a:pathLst>
              <a:path w="1669247">
                <a:moveTo>
                  <a:pt x="0" y="0"/>
                </a:moveTo>
                <a:moveTo>
                  <a:pt x="0" y="0"/>
                </a:moveTo>
                <a:lnTo>
                  <a:pt x="1669247" y="0"/>
                </a:lnTo>
              </a:path>
            </a:pathLst>
          </a:custGeom>
          <a:noFill/>
          <a:ln w="19420">
            <a:solidFill>
              <a:srgbClr val="FFFFFF">
                <a:alpha val="32157"/>
              </a:srgbClr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SK"/>
          </a:p>
        </p:txBody>
      </p:sp>
      <p:sp>
        <p:nvSpPr>
          <p:cNvPr id="17" name="Text 9"/>
          <p:cNvSpPr/>
          <p:nvPr/>
        </p:nvSpPr>
        <p:spPr>
          <a:xfrm>
            <a:off x="8035457" y="1050677"/>
            <a:ext cx="702086" cy="8686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600" b="1" i="1" dirty="0">
                <a:solidFill>
                  <a:srgbClr val="6764FB">
                    <a:alpha val="5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329134" y="3959379"/>
            <a:ext cx="2356568" cy="38219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2820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Posters on campus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639881" y="1824186"/>
            <a:ext cx="21616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Eye-catching designs placed in high-traffic areas to attract student attention.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3282233" y="3959379"/>
            <a:ext cx="2356568" cy="38219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2820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Classroom presentations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3592981" y="1824186"/>
            <a:ext cx="216164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Brief informative talks introducing podcast benefits during lecture breaks.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6207012" y="3959379"/>
            <a:ext cx="2356568" cy="38219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marL="0" indent="0" algn="ct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2820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FMK merchandise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6517760" y="1824186"/>
            <a:ext cx="216164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Branded items promoting podcast visibility while creating walking advertisements among students.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5078" y="67884"/>
            <a:ext cx="8005161" cy="5852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Contest mechanics</a:t>
            </a:r>
            <a:endParaRPr lang="en-US" sz="144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119" y="2074006"/>
            <a:ext cx="2271826" cy="129818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552494" y="2480310"/>
            <a:ext cx="890007" cy="890007"/>
          </a:xfrm>
          <a:custGeom>
            <a:avLst/>
            <a:gdLst/>
            <a:ahLst/>
            <a:cxnLst/>
            <a:rect l="l" t="t" r="r" b="b"/>
            <a:pathLst>
              <a:path w="890007" h="890007">
                <a:moveTo>
                  <a:pt x="445004" y="0"/>
                </a:moveTo>
                <a:moveTo>
                  <a:pt x="445004" y="0"/>
                </a:moveTo>
                <a:cubicBezTo>
                  <a:pt x="690608" y="0"/>
                  <a:pt x="890007" y="199399"/>
                  <a:pt x="890007" y="445004"/>
                </a:cubicBezTo>
                <a:cubicBezTo>
                  <a:pt x="890007" y="690608"/>
                  <a:pt x="690608" y="890007"/>
                  <a:pt x="445004" y="890007"/>
                </a:cubicBezTo>
                <a:cubicBezTo>
                  <a:pt x="199399" y="890007"/>
                  <a:pt x="0" y="690608"/>
                  <a:pt x="0" y="445004"/>
                </a:cubicBezTo>
                <a:cubicBezTo>
                  <a:pt x="0" y="199399"/>
                  <a:pt x="199399" y="0"/>
                  <a:pt x="445004" y="0"/>
                </a:cubicBezTo>
                <a:close/>
              </a:path>
            </a:pathLst>
          </a:custGeom>
          <a:solidFill>
            <a:srgbClr val="6764FB"/>
          </a:solidFill>
          <a:ln/>
        </p:spPr>
        <p:txBody>
          <a:bodyPr/>
          <a:lstStyle/>
          <a:p>
            <a:endParaRPr lang="en-SK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8097" y="2695913"/>
            <a:ext cx="458801" cy="458801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6701499" y="2480310"/>
            <a:ext cx="890007" cy="890007"/>
          </a:xfrm>
          <a:custGeom>
            <a:avLst/>
            <a:gdLst/>
            <a:ahLst/>
            <a:cxnLst/>
            <a:rect l="l" t="t" r="r" b="b"/>
            <a:pathLst>
              <a:path w="890007" h="890007">
                <a:moveTo>
                  <a:pt x="445004" y="0"/>
                </a:moveTo>
                <a:moveTo>
                  <a:pt x="445004" y="0"/>
                </a:moveTo>
                <a:cubicBezTo>
                  <a:pt x="690608" y="0"/>
                  <a:pt x="890007" y="199399"/>
                  <a:pt x="890007" y="445004"/>
                </a:cubicBezTo>
                <a:cubicBezTo>
                  <a:pt x="890007" y="690608"/>
                  <a:pt x="690608" y="890007"/>
                  <a:pt x="445004" y="890007"/>
                </a:cubicBezTo>
                <a:cubicBezTo>
                  <a:pt x="199399" y="890007"/>
                  <a:pt x="0" y="690608"/>
                  <a:pt x="0" y="445004"/>
                </a:cubicBezTo>
                <a:cubicBezTo>
                  <a:pt x="0" y="199399"/>
                  <a:pt x="199399" y="0"/>
                  <a:pt x="445004" y="0"/>
                </a:cubicBezTo>
                <a:close/>
              </a:path>
            </a:pathLst>
          </a:custGeom>
          <a:solidFill>
            <a:srgbClr val="6764FB">
              <a:alpha val="12941"/>
            </a:srgbClr>
          </a:solidFill>
          <a:ln/>
        </p:spPr>
        <p:txBody>
          <a:bodyPr/>
          <a:lstStyle/>
          <a:p>
            <a:endParaRPr lang="en-SK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 flipV="1">
            <a:off x="4429673" y="2074006"/>
            <a:ext cx="2271826" cy="1298186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3590" y="2722401"/>
            <a:ext cx="405824" cy="40582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241511" y="889791"/>
            <a:ext cx="3370521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Follow @fmk_insights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241511" y="1378983"/>
            <a:ext cx="3370521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step to enter the contest and stay updated with podcast news.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5533525" y="889813"/>
            <a:ext cx="3390968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Comment your why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5565586" y="1378983"/>
            <a:ext cx="339096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Share your motivation for attending the podcast talkshow event.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241511" y="3372192"/>
            <a:ext cx="3370521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Share to story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241511" y="3774528"/>
            <a:ext cx="3370521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Spread the word by sharing the contest post on your Instagram story.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5570108" y="3372192"/>
            <a:ext cx="3354385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Share your insight</a:t>
            </a:r>
            <a:endParaRPr lang="en-US" sz="1440" dirty="0"/>
          </a:p>
        </p:txBody>
      </p:sp>
      <p:sp>
        <p:nvSpPr>
          <p:cNvPr id="19" name="Text 10"/>
          <p:cNvSpPr/>
          <p:nvPr/>
        </p:nvSpPr>
        <p:spPr>
          <a:xfrm>
            <a:off x="5565586" y="3774528"/>
            <a:ext cx="339096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Bonus entry by posting your own insight and tagging the podcast.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Campaign Objectives</a:t>
            </a:r>
            <a:endParaRPr lang="en-US" sz="1440" dirty="0"/>
          </a:p>
        </p:txBody>
      </p:sp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C56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5078" y="67884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 podcast awareness</a:t>
            </a:r>
            <a:endParaRPr lang="en-US" sz="1440" dirty="0"/>
          </a:p>
        </p:txBody>
      </p:sp>
      <p:sp>
        <p:nvSpPr>
          <p:cNvPr id="6" name="Shape 1"/>
          <p:cNvSpPr/>
          <p:nvPr/>
        </p:nvSpPr>
        <p:spPr>
          <a:xfrm>
            <a:off x="4746793" y="1635405"/>
            <a:ext cx="1978872" cy="3185778"/>
          </a:xfrm>
          <a:custGeom>
            <a:avLst/>
            <a:gdLst/>
            <a:ahLst/>
            <a:cxnLst/>
            <a:rect l="l" t="t" r="r" b="b"/>
            <a:pathLst>
              <a:path w="1978872" h="3185778">
                <a:moveTo>
                  <a:pt x="0" y="0"/>
                </a:moveTo>
                <a:moveTo>
                  <a:pt x="0" y="0"/>
                </a:moveTo>
                <a:lnTo>
                  <a:pt x="1978872" y="0"/>
                </a:lnTo>
                <a:lnTo>
                  <a:pt x="1978872" y="3185778"/>
                </a:lnTo>
                <a:lnTo>
                  <a:pt x="0" y="3185778"/>
                </a:lnTo>
                <a:close/>
              </a:path>
            </a:pathLst>
          </a:custGeom>
          <a:solidFill>
            <a:srgbClr val="C560FF">
              <a:alpha val="10000"/>
            </a:srgbClr>
          </a:solidFill>
          <a:ln/>
        </p:spPr>
        <p:txBody>
          <a:bodyPr/>
          <a:lstStyle/>
          <a:p>
            <a:endParaRPr lang="en-SK"/>
          </a:p>
        </p:txBody>
      </p:sp>
      <p:sp>
        <p:nvSpPr>
          <p:cNvPr id="7" name="Shape 2"/>
          <p:cNvSpPr/>
          <p:nvPr/>
        </p:nvSpPr>
        <p:spPr>
          <a:xfrm>
            <a:off x="6921810" y="1635405"/>
            <a:ext cx="1978872" cy="3185778"/>
          </a:xfrm>
          <a:custGeom>
            <a:avLst/>
            <a:gdLst/>
            <a:ahLst/>
            <a:cxnLst/>
            <a:rect l="l" t="t" r="r" b="b"/>
            <a:pathLst>
              <a:path w="1978872" h="3185778">
                <a:moveTo>
                  <a:pt x="0" y="0"/>
                </a:moveTo>
                <a:moveTo>
                  <a:pt x="0" y="0"/>
                </a:moveTo>
                <a:lnTo>
                  <a:pt x="1978872" y="0"/>
                </a:lnTo>
                <a:lnTo>
                  <a:pt x="1978872" y="3185778"/>
                </a:lnTo>
                <a:lnTo>
                  <a:pt x="0" y="3185778"/>
                </a:lnTo>
                <a:close/>
              </a:path>
            </a:pathLst>
          </a:custGeom>
          <a:solidFill>
            <a:srgbClr val="C560FF">
              <a:alpha val="10000"/>
            </a:srgbClr>
          </a:solidFill>
          <a:ln/>
        </p:spPr>
        <p:txBody>
          <a:bodyPr/>
          <a:lstStyle/>
          <a:p>
            <a:endParaRPr lang="en-SK"/>
          </a:p>
        </p:txBody>
      </p:sp>
      <p:sp>
        <p:nvSpPr>
          <p:cNvPr id="8" name="Shape 3"/>
          <p:cNvSpPr/>
          <p:nvPr/>
        </p:nvSpPr>
        <p:spPr>
          <a:xfrm>
            <a:off x="323469" y="1635405"/>
            <a:ext cx="1978872" cy="3185778"/>
          </a:xfrm>
          <a:custGeom>
            <a:avLst/>
            <a:gdLst/>
            <a:ahLst/>
            <a:cxnLst/>
            <a:rect l="l" t="t" r="r" b="b"/>
            <a:pathLst>
              <a:path w="1978872" h="3185778">
                <a:moveTo>
                  <a:pt x="0" y="0"/>
                </a:moveTo>
                <a:moveTo>
                  <a:pt x="0" y="0"/>
                </a:moveTo>
                <a:lnTo>
                  <a:pt x="1978872" y="0"/>
                </a:lnTo>
                <a:lnTo>
                  <a:pt x="1978872" y="3185778"/>
                </a:lnTo>
                <a:lnTo>
                  <a:pt x="0" y="3185778"/>
                </a:lnTo>
                <a:close/>
              </a:path>
            </a:pathLst>
          </a:custGeom>
          <a:solidFill>
            <a:srgbClr val="C560FF">
              <a:alpha val="10000"/>
            </a:srgbClr>
          </a:solidFill>
          <a:ln/>
        </p:spPr>
        <p:txBody>
          <a:bodyPr/>
          <a:lstStyle/>
          <a:p>
            <a:endParaRPr lang="en-SK"/>
          </a:p>
        </p:txBody>
      </p:sp>
      <p:sp>
        <p:nvSpPr>
          <p:cNvPr id="9" name="Shape 4"/>
          <p:cNvSpPr/>
          <p:nvPr/>
        </p:nvSpPr>
        <p:spPr>
          <a:xfrm>
            <a:off x="2498485" y="948947"/>
            <a:ext cx="2052164" cy="3872237"/>
          </a:xfrm>
          <a:custGeom>
            <a:avLst/>
            <a:gdLst/>
            <a:ahLst/>
            <a:cxnLst/>
            <a:rect l="l" t="t" r="r" b="b"/>
            <a:pathLst>
              <a:path w="2052164" h="3872237">
                <a:moveTo>
                  <a:pt x="0" y="0"/>
                </a:moveTo>
                <a:moveTo>
                  <a:pt x="0" y="0"/>
                </a:moveTo>
                <a:lnTo>
                  <a:pt x="2052164" y="0"/>
                </a:lnTo>
                <a:lnTo>
                  <a:pt x="2052164" y="3872237"/>
                </a:lnTo>
                <a:lnTo>
                  <a:pt x="0" y="3872237"/>
                </a:lnTo>
                <a:close/>
              </a:path>
            </a:pathLst>
          </a:custGeom>
          <a:solidFill>
            <a:srgbClr val="6764FB"/>
          </a:solidFill>
          <a:ln/>
        </p:spPr>
        <p:txBody>
          <a:bodyPr/>
          <a:lstStyle/>
          <a:p>
            <a:endParaRPr lang="en-SK"/>
          </a:p>
        </p:txBody>
      </p:sp>
      <p:sp>
        <p:nvSpPr>
          <p:cNvPr id="10" name="Text 5"/>
          <p:cNvSpPr/>
          <p:nvPr/>
        </p:nvSpPr>
        <p:spPr>
          <a:xfrm>
            <a:off x="2367844" y="993482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2820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4582109" y="1746765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C56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181976" y="1746765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C56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23469" y="2455856"/>
            <a:ext cx="197887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Multi-channel promotion strategy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323469" y="2958637"/>
            <a:ext cx="197887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Utilize Instagram, TikTok, Spotify, posters, and classroom presentations to maximize reach.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2498485" y="1792458"/>
            <a:ext cx="205216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Influencer partnerships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2498485" y="2408479"/>
            <a:ext cx="205216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Collaborate with guests and influencers to share event promotions across their platforms.</a:t>
            </a:r>
            <a:endParaRPr lang="en-US" sz="1440" dirty="0"/>
          </a:p>
        </p:txBody>
      </p:sp>
      <p:sp>
        <p:nvSpPr>
          <p:cNvPr id="17" name="Text 12"/>
          <p:cNvSpPr/>
          <p:nvPr/>
        </p:nvSpPr>
        <p:spPr>
          <a:xfrm>
            <a:off x="4746793" y="2455856"/>
            <a:ext cx="198455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contests</a:t>
            </a:r>
            <a:endParaRPr lang="en-US" sz="1440" dirty="0"/>
          </a:p>
        </p:txBody>
      </p:sp>
      <p:sp>
        <p:nvSpPr>
          <p:cNvPr id="18" name="Text 13"/>
          <p:cNvSpPr/>
          <p:nvPr/>
        </p:nvSpPr>
        <p:spPr>
          <a:xfrm>
            <a:off x="4746793" y="2958637"/>
            <a:ext cx="198455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"Win Your Way" contest engages followers through comments, shares, and personal insights.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6921810" y="2455856"/>
            <a:ext cx="197887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talkshow events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6921810" y="2958637"/>
            <a:ext cx="197887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excitement through podcast recordings with guests, students and influencers.</a:t>
            </a:r>
            <a:endParaRPr lang="en-US" sz="1440" dirty="0"/>
          </a:p>
        </p:txBody>
      </p:sp>
      <p:sp>
        <p:nvSpPr>
          <p:cNvPr id="21" name="Text 16"/>
          <p:cNvSpPr/>
          <p:nvPr/>
        </p:nvSpPr>
        <p:spPr>
          <a:xfrm>
            <a:off x="6812029" y="1746765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C560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5078" y="67884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Boost engagement metrics</a:t>
            </a:r>
            <a:endParaRPr lang="en-US" sz="144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119" y="2074006"/>
            <a:ext cx="2271826" cy="1298186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552494" y="2480310"/>
            <a:ext cx="890007" cy="890007"/>
          </a:xfrm>
          <a:custGeom>
            <a:avLst/>
            <a:gdLst/>
            <a:ahLst/>
            <a:cxnLst/>
            <a:rect l="l" t="t" r="r" b="b"/>
            <a:pathLst>
              <a:path w="890007" h="890007">
                <a:moveTo>
                  <a:pt x="445004" y="0"/>
                </a:moveTo>
                <a:moveTo>
                  <a:pt x="445004" y="0"/>
                </a:moveTo>
                <a:cubicBezTo>
                  <a:pt x="690608" y="0"/>
                  <a:pt x="890007" y="199399"/>
                  <a:pt x="890007" y="445004"/>
                </a:cubicBezTo>
                <a:cubicBezTo>
                  <a:pt x="890007" y="690608"/>
                  <a:pt x="690608" y="890007"/>
                  <a:pt x="445004" y="890007"/>
                </a:cubicBezTo>
                <a:cubicBezTo>
                  <a:pt x="199399" y="890007"/>
                  <a:pt x="0" y="690608"/>
                  <a:pt x="0" y="445004"/>
                </a:cubicBezTo>
                <a:cubicBezTo>
                  <a:pt x="0" y="199399"/>
                  <a:pt x="199399" y="0"/>
                  <a:pt x="445004" y="0"/>
                </a:cubicBezTo>
                <a:close/>
              </a:path>
            </a:pathLst>
          </a:custGeom>
          <a:solidFill>
            <a:srgbClr val="6764FB"/>
          </a:solidFill>
          <a:ln/>
        </p:spPr>
        <p:txBody>
          <a:bodyPr/>
          <a:lstStyle/>
          <a:p>
            <a:endParaRPr lang="en-SK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8097" y="2695913"/>
            <a:ext cx="458801" cy="458801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6701499" y="2480310"/>
            <a:ext cx="890007" cy="890007"/>
          </a:xfrm>
          <a:custGeom>
            <a:avLst/>
            <a:gdLst/>
            <a:ahLst/>
            <a:cxnLst/>
            <a:rect l="l" t="t" r="r" b="b"/>
            <a:pathLst>
              <a:path w="890007" h="890007">
                <a:moveTo>
                  <a:pt x="445004" y="0"/>
                </a:moveTo>
                <a:moveTo>
                  <a:pt x="445004" y="0"/>
                </a:moveTo>
                <a:cubicBezTo>
                  <a:pt x="690608" y="0"/>
                  <a:pt x="890007" y="199399"/>
                  <a:pt x="890007" y="445004"/>
                </a:cubicBezTo>
                <a:cubicBezTo>
                  <a:pt x="890007" y="690608"/>
                  <a:pt x="690608" y="890007"/>
                  <a:pt x="445004" y="890007"/>
                </a:cubicBezTo>
                <a:cubicBezTo>
                  <a:pt x="199399" y="890007"/>
                  <a:pt x="0" y="690608"/>
                  <a:pt x="0" y="445004"/>
                </a:cubicBezTo>
                <a:cubicBezTo>
                  <a:pt x="0" y="199399"/>
                  <a:pt x="199399" y="0"/>
                  <a:pt x="445004" y="0"/>
                </a:cubicBezTo>
                <a:close/>
              </a:path>
            </a:pathLst>
          </a:custGeom>
          <a:solidFill>
            <a:srgbClr val="6764FB">
              <a:alpha val="12941"/>
            </a:srgbClr>
          </a:solidFill>
          <a:ln/>
        </p:spPr>
        <p:txBody>
          <a:bodyPr/>
          <a:lstStyle/>
          <a:p>
            <a:endParaRPr lang="en-SK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 flipV="1">
            <a:off x="4429673" y="2074006"/>
            <a:ext cx="2271826" cy="1298186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3590" y="2722401"/>
            <a:ext cx="405824" cy="40582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241511" y="889791"/>
            <a:ext cx="3370521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Social media growth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241511" y="1378983"/>
            <a:ext cx="3370521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Increase followers, engagement rates and reach across Instagram and TikTok platforms.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5533525" y="889813"/>
            <a:ext cx="3390968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Podcast listeners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5565586" y="1378983"/>
            <a:ext cx="339096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 monthly listener growth, episode completion rates and subscription numbers.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241511" y="3372192"/>
            <a:ext cx="3370521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 participation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241511" y="3774528"/>
            <a:ext cx="3370521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attendance, contest entries and backstage experience feedback from participants.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5570108" y="3372192"/>
            <a:ext cx="3354385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6764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Community building</a:t>
            </a:r>
            <a:endParaRPr lang="en-US" sz="1440" dirty="0"/>
          </a:p>
        </p:txBody>
      </p:sp>
      <p:sp>
        <p:nvSpPr>
          <p:cNvPr id="19" name="Text 10"/>
          <p:cNvSpPr/>
          <p:nvPr/>
        </p:nvSpPr>
        <p:spPr>
          <a:xfrm>
            <a:off x="5565586" y="3774528"/>
            <a:ext cx="339096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 comment quality, user-generated content and cross-platform sharing of podcast episodes.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357" y="244913"/>
            <a:ext cx="616423" cy="23115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5078" y="67884"/>
            <a:ext cx="8005161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Strengthen FMK's modern image</a:t>
            </a:r>
            <a:endParaRPr lang="en-US" sz="1440" dirty="0"/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286" y="973100"/>
            <a:ext cx="4209837" cy="170108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0877" y="973100"/>
            <a:ext cx="4209837" cy="1701083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286" y="2853664"/>
            <a:ext cx="4209898" cy="170078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0425" y="2853664"/>
            <a:ext cx="4209898" cy="1700784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3787325" y="1969030"/>
            <a:ext cx="1569350" cy="1569350"/>
          </a:xfrm>
          <a:custGeom>
            <a:avLst/>
            <a:gdLst/>
            <a:ahLst/>
            <a:cxnLst/>
            <a:rect l="l" t="t" r="r" b="b"/>
            <a:pathLst>
              <a:path w="1569350" h="1569350">
                <a:moveTo>
                  <a:pt x="784675" y="0"/>
                </a:moveTo>
                <a:moveTo>
                  <a:pt x="784675" y="0"/>
                </a:moveTo>
                <a:cubicBezTo>
                  <a:pt x="1217749" y="0"/>
                  <a:pt x="1569350" y="351601"/>
                  <a:pt x="1569350" y="784675"/>
                </a:cubicBezTo>
                <a:cubicBezTo>
                  <a:pt x="1569350" y="1217749"/>
                  <a:pt x="1217749" y="1569350"/>
                  <a:pt x="784675" y="1569350"/>
                </a:cubicBezTo>
                <a:cubicBezTo>
                  <a:pt x="351601" y="1569350"/>
                  <a:pt x="0" y="1217749"/>
                  <a:pt x="0" y="784675"/>
                </a:cubicBezTo>
                <a:cubicBezTo>
                  <a:pt x="0" y="351601"/>
                  <a:pt x="351601" y="0"/>
                  <a:pt x="78467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6764FB"/>
            </a:solidFill>
            <a:prstDash val="solid"/>
          </a:ln>
        </p:spPr>
        <p:txBody>
          <a:bodyPr/>
          <a:lstStyle/>
          <a:p>
            <a:endParaRPr lang="en-SK"/>
          </a:p>
        </p:txBody>
      </p:sp>
      <p:sp>
        <p:nvSpPr>
          <p:cNvPr id="11" name="Text 2"/>
          <p:cNvSpPr/>
          <p:nvPr/>
        </p:nvSpPr>
        <p:spPr>
          <a:xfrm>
            <a:off x="366908" y="1083974"/>
            <a:ext cx="400259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Digital-first approach</a:t>
            </a:r>
            <a:endParaRPr lang="en-US" sz="1440" dirty="0"/>
          </a:p>
        </p:txBody>
      </p:sp>
      <p:sp>
        <p:nvSpPr>
          <p:cNvPr id="12" name="Text 3"/>
          <p:cNvSpPr/>
          <p:nvPr/>
        </p:nvSpPr>
        <p:spPr>
          <a:xfrm>
            <a:off x="386728" y="1589172"/>
            <a:ext cx="3400597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Leveraging social platforms to showcase innovative content creation and modern communication strategies.</a:t>
            </a:r>
            <a:endParaRPr lang="en-US" sz="1440" dirty="0"/>
          </a:p>
        </p:txBody>
      </p:sp>
      <p:sp>
        <p:nvSpPr>
          <p:cNvPr id="13" name="Text 4"/>
          <p:cNvSpPr/>
          <p:nvPr/>
        </p:nvSpPr>
        <p:spPr>
          <a:xfrm>
            <a:off x="4670877" y="1083974"/>
            <a:ext cx="405044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 collaboration</a:t>
            </a:r>
            <a:endParaRPr lang="en-US" sz="1440" dirty="0"/>
          </a:p>
        </p:txBody>
      </p:sp>
      <p:sp>
        <p:nvSpPr>
          <p:cNvPr id="14" name="Text 5"/>
          <p:cNvSpPr/>
          <p:nvPr/>
        </p:nvSpPr>
        <p:spPr>
          <a:xfrm>
            <a:off x="5239344" y="1589172"/>
            <a:ext cx="348198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Highlighting student involvement in professional projects demonstrates progressive educational methods and industry relevance.</a:t>
            </a:r>
            <a:endParaRPr lang="en-US" sz="1440" dirty="0"/>
          </a:p>
        </p:txBody>
      </p:sp>
      <p:sp>
        <p:nvSpPr>
          <p:cNvPr id="15" name="Text 6"/>
          <p:cNvSpPr/>
          <p:nvPr/>
        </p:nvSpPr>
        <p:spPr>
          <a:xfrm>
            <a:off x="366908" y="2954248"/>
            <a:ext cx="3400597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Creative environment</a:t>
            </a:r>
            <a:endParaRPr lang="en-US" sz="1440" dirty="0"/>
          </a:p>
        </p:txBody>
      </p:sp>
      <p:sp>
        <p:nvSpPr>
          <p:cNvPr id="16" name="Text 7"/>
          <p:cNvSpPr/>
          <p:nvPr/>
        </p:nvSpPr>
        <p:spPr>
          <a:xfrm>
            <a:off x="386728" y="3414018"/>
            <a:ext cx="3400597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Showcasing FMK's unique creative atmosphere attracts forward-thinking students and partners to the institution.</a:t>
            </a:r>
            <a:endParaRPr lang="en-US" sz="1440" dirty="0"/>
          </a:p>
        </p:txBody>
      </p:sp>
      <p:sp>
        <p:nvSpPr>
          <p:cNvPr id="17" name="Text 8"/>
          <p:cNvSpPr/>
          <p:nvPr/>
        </p:nvSpPr>
        <p:spPr>
          <a:xfrm>
            <a:off x="5356675" y="2954248"/>
            <a:ext cx="3364651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 content</a:t>
            </a:r>
            <a:endParaRPr lang="en-US" sz="1440" dirty="0"/>
          </a:p>
        </p:txBody>
      </p:sp>
      <p:sp>
        <p:nvSpPr>
          <p:cNvPr id="18" name="Text 9"/>
          <p:cNvSpPr/>
          <p:nvPr/>
        </p:nvSpPr>
        <p:spPr>
          <a:xfrm>
            <a:off x="5477745" y="3414018"/>
            <a:ext cx="3243581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Genuine, unscripted conversations position FMK as transparent and connected to current industry trends.</a:t>
            </a:r>
            <a:endParaRPr lang="en-US" sz="144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4658" y="2386364"/>
            <a:ext cx="734683" cy="7346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5396" y="1666794"/>
            <a:ext cx="4313208" cy="16642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marL="0" indent="0" algn="ctr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D46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 for your attention！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502</Words>
  <Application>Microsoft Macintosh PowerPoint</Application>
  <PresentationFormat>On-screen Show (16:9)</PresentationFormat>
  <Paragraphs>102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Simona Lopošová</cp:lastModifiedBy>
  <cp:revision>2</cp:revision>
  <dcterms:created xsi:type="dcterms:W3CDTF">2025-11-19T07:23:28Z</dcterms:created>
  <dcterms:modified xsi:type="dcterms:W3CDTF">2025-11-19T07:36:56Z</dcterms:modified>
</cp:coreProperties>
</file>